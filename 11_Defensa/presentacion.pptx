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F4E3D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F4E3D"/>
                </a:solidFill>
                <a:latin typeface="Calibri"/>
              </a:rPr>
              <a:t>Códigos axiales nuevos por entrevista (acumulado)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Códigos axiales acumulados</c:v>
                </c:pt>
              </c:strCache>
            </c:strRef>
          </c:tx>
          <c:spPr>
            <a:solidFill>
              <a:srgbClr val="1F4E3D"/>
            </a:solidFill>
            <a:ln w="38100" cap="flat">
              <a:solidFill>
                <a:srgbClr val="1F4E3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F4E3D"/>
              </a:solidFill>
              <a:ln w="9525" cap="flat">
                <a:solidFill>
                  <a:srgbClr val="1F4E3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Sheet1!$A$2:$A$17</c:f>
              <c:multiLvlStrCache>
                <c:ptCount val="16"/>
                <c:lvl>
                  <c:pt idx="0">
                    <c:v>P01</c:v>
                  </c:pt>
                  <c:pt idx="1">
                    <c:v>P02</c:v>
                  </c:pt>
                  <c:pt idx="2">
                    <c:v>P03</c:v>
                  </c:pt>
                  <c:pt idx="3">
                    <c:v>P04</c:v>
                  </c:pt>
                  <c:pt idx="4">
                    <c:v>P05</c:v>
                  </c:pt>
                  <c:pt idx="5">
                    <c:v>P06</c:v>
                  </c:pt>
                  <c:pt idx="6">
                    <c:v>P07</c:v>
                  </c:pt>
                  <c:pt idx="7">
                    <c:v>P08</c:v>
                  </c:pt>
                  <c:pt idx="8">
                    <c:v>P09</c:v>
                  </c:pt>
                  <c:pt idx="9">
                    <c:v>P10</c:v>
                  </c:pt>
                  <c:pt idx="10">
                    <c:v>P11</c:v>
                  </c:pt>
                  <c:pt idx="11">
                    <c:v>P12</c:v>
                  </c:pt>
                  <c:pt idx="12">
                    <c:v>P13</c:v>
                  </c:pt>
                  <c:pt idx="13">
                    <c:v>P14</c:v>
                  </c:pt>
                  <c:pt idx="14">
                    <c:v>P15</c:v>
                  </c:pt>
                  <c:pt idx="15">
                    <c:v>P16</c:v>
                  </c:pt>
                </c:lvl>
              </c:multiLvlStrCache>
            </c:multiLvlStrRef>
          </c:cat>
          <c:val>
            <c:numRef>
              <c:f>Sheet1!$B$2:$B$17</c:f>
              <c:numCache>
                <c:formatCode>General</c:formatCode>
                <c:ptCount val="16"/>
                <c:pt idx="0">
                  <c:v>15</c:v>
                </c:pt>
                <c:pt idx="1">
                  <c:v>21</c:v>
                </c:pt>
                <c:pt idx="2">
                  <c:v>23</c:v>
                </c:pt>
                <c:pt idx="3">
                  <c:v>25</c:v>
                </c:pt>
                <c:pt idx="4">
                  <c:v>28</c:v>
                </c:pt>
                <c:pt idx="5">
                  <c:v>32</c:v>
                </c:pt>
                <c:pt idx="6">
                  <c:v>33</c:v>
                </c:pt>
                <c:pt idx="7">
                  <c:v>35</c:v>
                </c:pt>
                <c:pt idx="8">
                  <c:v>37</c:v>
                </c:pt>
                <c:pt idx="9">
                  <c:v>39</c:v>
                </c:pt>
                <c:pt idx="10">
                  <c:v>41</c:v>
                </c:pt>
                <c:pt idx="11">
                  <c:v>42</c:v>
                </c:pt>
                <c:pt idx="12">
                  <c:v>46</c:v>
                </c:pt>
                <c:pt idx="13">
                  <c:v>47</c:v>
                </c:pt>
                <c:pt idx="14">
                  <c:v>48</c:v>
                </c:pt>
                <c:pt idx="15">
                  <c:v>50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6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5E5E5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B63"/>
                    </a:solidFill>
                    <a:latin typeface="Arial"/>
                  </a:defRPr>
                </a:pPr>
                <a:r>
                  <a:rPr sz="1100" b="0" i="0" u="none" strike="noStrike">
                    <a:solidFill>
                      <a:srgbClr val="5B6B63"/>
                    </a:solidFill>
                    <a:latin typeface="Arial"/>
                  </a:rPr>
                  <a:t>Códigos acumulados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B6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Códigos axiales</c:v>
                </c:pt>
              </c:strCache>
            </c:strRef>
          </c:tx>
          <c:spPr>
            <a:solidFill>
              <a:srgbClr val="6B9C7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B1B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6B9C7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B9C7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6B9C7D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77D2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6B9C7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6B9C7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6B9C7D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Historia
clínica</c:v>
                  </c:pt>
                  <c:pt idx="1">
                    <c:v>Citas y
comunicación</c:v>
                  </c:pt>
                  <c:pt idx="2">
                    <c:v>Usabilidad y
desempeño</c:v>
                  </c:pt>
                  <c:pt idx="3">
                    <c:v>Inteligencia
Artificial</c:v>
                  </c:pt>
                  <c:pt idx="4">
                    <c:v>Gestión
admin./financ.</c:v>
                  </c:pt>
                  <c:pt idx="5">
                    <c:v>Inventario</c:v>
                  </c:pt>
                  <c:pt idx="6">
                    <c:v>Seguridad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</c:v>
                </c:pt>
                <c:pt idx="1">
                  <c:v>10</c:v>
                </c:pt>
                <c:pt idx="2">
                  <c:v>10</c:v>
                </c:pt>
                <c:pt idx="3">
                  <c:v>8</c:v>
                </c:pt>
                <c:pt idx="4">
                  <c:v>5</c:v>
                </c:pt>
                <c:pt idx="5">
                  <c:v>4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B1B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1B1B1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4E3D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393192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255C46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6400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6B9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SGCV-IA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051560"/>
            <a:ext cx="10607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Requisitos de explicabilidad para sugerencias diagnósticas de Inteligencia Artificial en una clínica veterinaria real: un estudio empírico</a:t>
            </a:r>
            <a:endParaRPr lang="en-US" sz="27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56032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D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4 (2B) · Defensa Final — Proyecto Fin de Curso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315468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9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5204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Marcillo Ponce, Alberto Jeanpool  </a:t>
            </a:r>
            <a:pPr indent="0" marL="0">
              <a:buNone/>
            </a:pPr>
            <a:r>
              <a:rPr lang="en-US" sz="1150" i="1" dirty="0">
                <a:solidFill>
                  <a:srgbClr val="D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Analista líder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81304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Amagua Sacón, Robyn Willian  </a:t>
            </a:r>
            <a:pPr indent="0" marL="0">
              <a:buNone/>
            </a:pPr>
            <a:r>
              <a:rPr lang="en-US" sz="1150" i="1" dirty="0">
                <a:solidFill>
                  <a:srgbClr val="D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Documentador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410565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Barrionuevo Fuentes, Carlos Daniel  </a:t>
            </a:r>
            <a:pPr indent="0" marL="0">
              <a:buNone/>
            </a:pPr>
            <a:r>
              <a:rPr lang="en-US" sz="1150" i="1" dirty="0">
                <a:solidFill>
                  <a:srgbClr val="D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Apoyo · Modelador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398264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 Gómez, Anthony Alfredo  </a:t>
            </a:r>
            <a:pPr indent="0" marL="0">
              <a:buNone/>
            </a:pPr>
            <a:r>
              <a:rPr lang="en-US" sz="1150" i="1" dirty="0">
                <a:solidFill>
                  <a:srgbClr val="D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Modelador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69087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Mesías Quijije, Jhon Alexander  </a:t>
            </a:r>
            <a:pPr indent="0" marL="0">
              <a:buNone/>
            </a:pPr>
            <a:r>
              <a:rPr lang="en-US" sz="1150" i="1" dirty="0">
                <a:solidFill>
                  <a:srgbClr val="D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Verificador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074920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D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supervisor: Dr. Gleiston Cicerón Guerrero Ulloa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8978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D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Técnica Estatal de Quevedo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Facultad de Ciencias de la Computación · Ingeniería de Requerimientos (ISR-401)</a:t>
            </a:r>
            <a:endParaRPr lang="en-US" sz="10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D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Período académico 2026–2027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DCE9D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EL PROBLEMA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clínica veterinaria real, sin trazabilidad de las sugerencias de IA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3685032" cy="3566160"/>
          </a:xfrm>
          <a:prstGeom prst="roundRect">
            <a:avLst>
              <a:gd name="adj" fmla="val 3077"/>
            </a:avLst>
          </a:prstGeom>
          <a:solidFill>
            <a:srgbClr val="F6F5F0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22860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F4E3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71800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474720"/>
            <a:ext cx="31363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clínico mixto (papel + software básico); búsquedas lentas; el veterinario no tiene forma sistemática de auditar por qué un sistema sugiere algo.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43400" y="1965960"/>
            <a:ext cx="3685032" cy="3566160"/>
          </a:xfrm>
          <a:prstGeom prst="roundRect">
            <a:avLst>
              <a:gd name="adj" fmla="val 3077"/>
            </a:avLst>
          </a:prstGeom>
          <a:solidFill>
            <a:srgbClr val="F6F5F0"/>
          </a:solidFill>
          <a:ln/>
        </p:spPr>
      </p:sp>
      <p:sp>
        <p:nvSpPr>
          <p:cNvPr id="11" name="Shape 9"/>
          <p:cNvSpPr/>
          <p:nvPr/>
        </p:nvSpPr>
        <p:spPr>
          <a:xfrm>
            <a:off x="4617720" y="22860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F4E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61772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971800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tendencia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474720"/>
            <a:ext cx="31363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módulos de apoyo diagnóstico con IA crecen en clínicas pequeñas, pero rara vez exponen sus factores de decisión al profesional.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229600" y="1965960"/>
            <a:ext cx="3685032" cy="3566160"/>
          </a:xfrm>
          <a:prstGeom prst="roundRect">
            <a:avLst>
              <a:gd name="adj" fmla="val 3077"/>
            </a:avLst>
          </a:prstGeom>
          <a:solidFill>
            <a:srgbClr val="DCE9DF"/>
          </a:solidFill>
          <a:ln/>
        </p:spPr>
      </p:sp>
      <p:sp>
        <p:nvSpPr>
          <p:cNvPr id="16" name="Shape 14"/>
          <p:cNvSpPr/>
          <p:nvPr/>
        </p:nvSpPr>
        <p:spPr>
          <a:xfrm>
            <a:off x="8503920" y="2286000"/>
            <a:ext cx="502920" cy="502920"/>
          </a:xfrm>
          <a:prstGeom prst="roundRect">
            <a:avLst>
              <a:gd name="adj" fmla="val 50909"/>
            </a:avLst>
          </a:prstGeom>
          <a:solidFill>
            <a:srgbClr val="1F4E3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503920" y="2286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8503920" y="2971800"/>
            <a:ext cx="3136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brecha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503920" y="3474720"/>
            <a:ext cx="313639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ingeniería de requisitos de explicabilidad se ha estudiado sobre todo en software clínico humano de gran escala — casi no hay evidencia empírica en veterinaria latinoamericana.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5806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Evidencia base: 16 entrevistas de campo con veterinarios, personal auxiliar y administrativo (Entregas 1A–2A del PFC).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Marcillo Ponce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SGCV-IA · Entrega 4 (2B) · 2 / 15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DCE9D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EL PROBLEMA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Pregunta de investigación y contribuciones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47120" cy="1051560"/>
          </a:xfrm>
          <a:prstGeom prst="roundRect">
            <a:avLst>
              <a:gd name="adj" fmla="val 8696"/>
            </a:avLst>
          </a:prstGeom>
          <a:solidFill>
            <a:srgbClr val="1F4E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10607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6B9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RQ —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requisitos de explicabilidad, operacionalizados como RNF verificables, resultan necesarios y suficientes para los distintos perfiles de usuarios de un sistema clínico veterinario con IA?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29718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CE9D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2971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94436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conjunto de requisitos no funcionales de explicabilidad derivado empíricamente de 16 entrevistas y un cuestionario aplicado a 4 perfiles de usuario.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457200" y="37490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CE9D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72160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operacionalización verificable de ese requisito (RNF-18) integrada al ERS/SRS y trazada a RF-17, RF-18, RF-19 y al caso de uso CU-06.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457200" y="45262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CE9D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4526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49884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MVP funcional que demuestra el flujo Aceptar / Modificar / Rechazar con los factores clínicos y el nivel de confianza visibles antes de decidir.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457200" y="53035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CE9D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5303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5276088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paquete de datos abierto con DOI en Zenodo y registro previo en OSF, para que el estudio sea replicable.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Marcillo Ponce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SGCV-IA · Entrega 4 (2B) · 3 / 15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DCE9D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EL SISTEMA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SGCV-IA y sus partes interesadas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6309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real para una clínica veterinaria: historiales clínicos, citas, facturación, inventario y un módulo de apoyo diagnóstico con IA bajo supervisión obligatoria del profesional.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3063240"/>
            <a:ext cx="146304" cy="146304"/>
          </a:xfrm>
          <a:prstGeom prst="ellipse">
            <a:avLst/>
          </a:prstGeom>
          <a:solidFill>
            <a:srgbClr val="C77D2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92608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Médico veterinario — </a:t>
            </a:r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historiales, diagnósticos, decide sobre las sugerencias de IA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630168"/>
            <a:ext cx="146304" cy="146304"/>
          </a:xfrm>
          <a:prstGeom prst="ellipse">
            <a:avLst/>
          </a:prstGeom>
          <a:solidFill>
            <a:srgbClr val="C77D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31520" y="3493008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Propietario de la mascota — </a:t>
            </a:r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recibe notificaciones y seguimiento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197096"/>
            <a:ext cx="146304" cy="146304"/>
          </a:xfrm>
          <a:prstGeom prst="ellipse">
            <a:avLst/>
          </a:prstGeom>
          <a:solidFill>
            <a:srgbClr val="C77D2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31520" y="4059936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administrativo — </a:t>
            </a:r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citas, inventario, facturación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4764024"/>
            <a:ext cx="146304" cy="146304"/>
          </a:xfrm>
          <a:prstGeom prst="ellipse">
            <a:avLst/>
          </a:prstGeom>
          <a:solidFill>
            <a:srgbClr val="C77D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626864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 del sistema — </a:t>
            </a:r>
            <a:pPr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usuarios, roles y permisos</a:t>
            </a:r>
            <a:endParaRPr lang="en-US" sz="1300" dirty="0"/>
          </a:p>
        </p:txBody>
      </p:sp>
      <p:pic>
        <p:nvPicPr>
          <p:cNvPr id="14" name="Image 0" descr="media/Diagrama_Contex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463040"/>
            <a:ext cx="4846320" cy="3163824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6949440" y="47091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contexto — ERS/SRS SGCV-IA v2.0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5349240"/>
            <a:ext cx="11247120" cy="914400"/>
          </a:xfrm>
          <a:prstGeom prst="roundRect">
            <a:avLst>
              <a:gd name="adj" fmla="val 10000"/>
            </a:avLst>
          </a:prstGeom>
          <a:solidFill>
            <a:srgbClr val="DCE9D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731520" y="53492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de IA (bajo estudio): 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IA-01 asistente de sugerencias diagnósticas · IA-02 recomendador nutricional. Ambos exigen revisión y aprobación del veterinario antes de aplicarse.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Barrionuevo Fuentes</a:t>
            </a:r>
            <a:endParaRPr lang="en-US" sz="1000" dirty="0"/>
          </a:p>
        </p:txBody>
      </p:sp>
      <p:sp>
        <p:nvSpPr>
          <p:cNvPr id="19" name="Text 1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SGCV-IA · Entrega 4 (2B) · 4 / 15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DCE9D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METODOLOGÍA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Enfoque 3 — Explicabilidad como requisito no funcional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874520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F6F5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8745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291840" y="18745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Chazette y Schneider (2020); Chazette, Brunotte y Speith (2021, 2022) — la explicabilidad como requisito no funcional en ingeniería de software.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044952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DCE9D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044952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3044952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Estudio de caso con elicitación cualitativa (entrevistas semiestructuradas) y un cuestionario cuantitativo complementario a 4 perfiles de usuario.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215384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F6F5F0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4215384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previo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291840" y="4215384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Protocolo registrado en el Open Science Framework antes de iniciar la recolección (osf.io/wkg32), como salvaguarda contra HARKing y p-hacking.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5385816"/>
            <a:ext cx="11247120" cy="1005840"/>
          </a:xfrm>
          <a:prstGeom prst="roundRect">
            <a:avLst>
              <a:gd name="adj" fmla="val 9091"/>
            </a:avLst>
          </a:prstGeom>
          <a:solidFill>
            <a:srgbClr val="DCE9D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77240" y="5385816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Unidad de análisis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5385816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módulo de sugerencias diagnósticas por IA (RF-17 / RF-18 / RF-19) del propio sistema SGCV-IA.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Amagua Sacón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SGCV-IA · Entrega 4 (2B) · 5 / 15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DCE9D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METODOLOGÍA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Cierre del trabajo de campo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2697480" cy="1737360"/>
          </a:xfrm>
          <a:prstGeom prst="roundRect">
            <a:avLst>
              <a:gd name="adj" fmla="val 6316"/>
            </a:avLst>
          </a:prstGeom>
          <a:solidFill>
            <a:srgbClr val="1F4E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457200" y="1783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B9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6060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entrevistas</a:t>
            </a:r>
            <a:endParaRPr lang="en-US" sz="12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(P01–P16)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337560" y="1691640"/>
            <a:ext cx="2697480" cy="1737360"/>
          </a:xfrm>
          <a:prstGeom prst="roundRect">
            <a:avLst>
              <a:gd name="adj" fmla="val 6316"/>
            </a:avLst>
          </a:prstGeom>
          <a:solidFill>
            <a:srgbClr val="1F4E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337560" y="1783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B9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167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474720" y="26060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abiertos</a:t>
            </a:r>
            <a:endParaRPr lang="en-US" sz="12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identificados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217920" y="1691640"/>
            <a:ext cx="2697480" cy="1737360"/>
          </a:xfrm>
          <a:prstGeom prst="roundRect">
            <a:avLst>
              <a:gd name="adj" fmla="val 6316"/>
            </a:avLst>
          </a:prstGeom>
          <a:solidFill>
            <a:srgbClr val="1F4E3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217920" y="1783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B9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44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26060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axiales</a:t>
            </a:r>
            <a:endParaRPr lang="en-US" sz="12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7 categorías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098280" y="1691640"/>
            <a:ext cx="2697480" cy="1737360"/>
          </a:xfrm>
          <a:prstGeom prst="roundRect">
            <a:avLst>
              <a:gd name="adj" fmla="val 6316"/>
            </a:avLst>
          </a:prstGeom>
          <a:solidFill>
            <a:srgbClr val="1F4E3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098280" y="1783080"/>
            <a:ext cx="2697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6B9C7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400" dirty="0"/>
          </a:p>
        </p:txBody>
      </p:sp>
      <p:sp>
        <p:nvSpPr>
          <p:cNvPr id="16" name="Text 14"/>
          <p:cNvSpPr txBox="1"/>
          <p:nvPr/>
        </p:nvSpPr>
        <p:spPr>
          <a:xfrm>
            <a:off x="9235440" y="2606040"/>
            <a:ext cx="2423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axiales de</a:t>
            </a:r>
            <a:endParaRPr lang="en-US" sz="12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Artificial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379476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Zonas de evidencia:  </a:t>
            </a:r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consentimientos, transcripciones y codificación en zona pública; videos, audios y consentimientos originales cifrados con AES-256 en zona restringida.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4434840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Rigor metodológico: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codificación axial se recontó íntegramente antes de esta entrega; el total pasó de 47 a 50 códigos verificados, y una frecuencia reportada en un borrador previo del manuscrito (6/16) se corrigió a 4/16 tras revisar cada participante.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5486400"/>
            <a:ext cx="11247120" cy="777240"/>
          </a:xfrm>
          <a:prstGeom prst="roundRect">
            <a:avLst>
              <a:gd name="adj" fmla="val 11765"/>
            </a:avLst>
          </a:prstGeom>
          <a:solidFill>
            <a:srgbClr val="DCE9D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31520" y="54864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8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 declarado: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cuestionario cuantitativo aún no alcanza n≥60 por perfil dominante; las actas de member checking están en trámite de carga al repositorio.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Amagua Sacón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SGCV-IA · Entrega 4 (2B) · 6 / 15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DCE9D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METODOLOGÍA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Punto de saturación temática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645920"/>
          <a:ext cx="7315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8046720" y="1645920"/>
            <a:ext cx="3657600" cy="4297680"/>
          </a:xfrm>
          <a:prstGeom prst="roundRect">
            <a:avLst>
              <a:gd name="adj" fmla="val 3000"/>
            </a:avLst>
          </a:prstGeom>
          <a:solidFill>
            <a:srgbClr val="DCE9DF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8321040" y="18745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saturación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321040" y="2286000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Saturado cuando el promedio de códigos nuevos en las últimas 3 entrevistas es ≤ 5 % del total acumulado.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8321040" y="34290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4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1,33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8321040" y="4114800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nuevos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promedio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(P14–P16)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9966960" y="34290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77D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2,67 %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9966960" y="41148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acumulado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— por debajo</a:t>
            </a:r>
            <a:endParaRPr lang="en-US" sz="10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umbral del 5 %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8321040" y="525780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Conclusión: la saturación se sostiene con el conjunto de 50 códigos axiales verificados.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Amagua Sacón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SGCV-IA · Entrega 4 (2B) · 7 / 15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DCE9D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RESULTADOS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RQ — Códigos axiales por categoría</a:t>
            </a:r>
            <a:endParaRPr lang="en-US" sz="3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64592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1645920"/>
            <a:ext cx="4069080" cy="4297680"/>
          </a:xfrm>
          <a:prstGeom prst="roundRect">
            <a:avLst>
              <a:gd name="adj" fmla="val 2697"/>
            </a:avLst>
          </a:prstGeom>
          <a:solidFill>
            <a:srgbClr val="F6F5F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909560" y="18745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códigos axiales · 7 categorías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2423160"/>
            <a:ext cx="3566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C77D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Inteligencia Artificial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8 de los 50 códigos axiales y alimenta directamente el requisito de explicabilidad (RNF-18), foco de este estudio.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909560" y="3977640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Trazabilidad completa: 64 filas en la matriz Necesidad → Requisito → Modelo → Implementación → Verificación.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Barrionuevo Fuentes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SGCV-IA · Entrega 4 (2B) · 8 / 15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DCE9D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RESULTADOS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4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requisito operacionalizado: RNF-18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7040880" cy="3200400"/>
          </a:xfrm>
          <a:prstGeom prst="roundRect">
            <a:avLst>
              <a:gd name="adj" fmla="val 3429"/>
            </a:avLst>
          </a:prstGeom>
          <a:solidFill>
            <a:srgbClr val="1F4E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9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RNF-18 · Adecuación funcional (explicabilidad de la IA)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sugerencia de IA debe presentar los factores clínicos de entrada y el nivel de confianza, de forma comprensible sin conocimientos técnicos.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3832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de verificación: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70332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 de las sugerencias muestran al menos 3 factores de mayor peso y un indicador de confianza (alto / medio / bajo), visibles antes de decidir.</a:t>
            </a:r>
            <a:endParaRPr lang="en-US" sz="1300" dirty="0"/>
          </a:p>
        </p:txBody>
      </p:sp>
      <p:pic>
        <p:nvPicPr>
          <p:cNvPr id="10" name="Image 0" descr="media/CU06_Inteligencia_Artific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737360"/>
            <a:ext cx="3886200" cy="262432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7818120" y="438912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CU-06 — Caso de uso de Inteligencia Artificial (ERS v2.0)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7818120" y="4800600"/>
            <a:ext cx="3886200" cy="1051560"/>
          </a:xfrm>
          <a:prstGeom prst="roundRect">
            <a:avLst>
              <a:gd name="adj" fmla="val 8696"/>
            </a:avLst>
          </a:prstGeom>
          <a:solidFill>
            <a:srgbClr val="DCE9D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01000" y="4800600"/>
            <a:ext cx="35204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Trazado a RF-17, RF-18, RF-19 · CU-06 · registros de campo RC-17, RC-18, RC-19.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5120640"/>
            <a:ext cx="7040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código axial "revisión obligatoria antes de aplicar la sugerencia de IA" aparece en 4 de las 16 entrevistas (frecuencia verificada participante por participante).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 Gómez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SGCV-IA · Entrega 4 (2B) · 9 / 15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DCE9D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DISCUSIÓN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significan estos hallazgos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09728" cy="1051560"/>
          </a:xfrm>
          <a:prstGeom prst="roundRect">
            <a:avLst/>
          </a:prstGeom>
          <a:solidFill>
            <a:srgbClr val="C77D2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la investigación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0574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explicabilidad en veterinaria pudo operacionalizarse con pocos elementos verificables (factores + nivel de confianza), sin exigir explicaciones técnicas complejas del modelo de IA.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108960"/>
            <a:ext cx="109728" cy="1051560"/>
          </a:xfrm>
          <a:prstGeom prst="roundRect">
            <a:avLst/>
          </a:prstGeom>
          <a:solidFill>
            <a:srgbClr val="C77D2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77240" y="30632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la práctica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4290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flujo Aceptar / Modificar / Rechazar, con esos factores visibles, ofrece un punto de partida replicable para clínicas pequeñas que no cuentan con equipos de ciencia de datos.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4480560"/>
            <a:ext cx="109728" cy="1051560"/>
          </a:xfrm>
          <a:prstGeom prst="roundRect">
            <a:avLst/>
          </a:prstGeom>
          <a:solidFill>
            <a:srgbClr val="C77D2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77240" y="44348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llamativo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800600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4 de 16 participantes exigieron espontáneamente una revisión obligatoria antes de aplicar la sugerencia de IA — la exigencia normativa (LOPDP, ética profesional) antecede a la demanda explícita del usuario.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57200" y="59436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alcance de estas conclusiones se restringe al módulo de IA diagnóstica de SGCV-IA y a la clínica veterinaria estudiada; no se generalizan a otros dominios clínicos.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Mesías Quijije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SGCV-IA · Entrega 4 (2B) · 10 / 15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DCE9D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DISCUSIÓN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Amenazas a la validez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11247120" cy="1078992"/>
          </a:xfrm>
          <a:prstGeom prst="roundRect">
            <a:avLst>
              <a:gd name="adj" fmla="val 6780"/>
            </a:avLst>
          </a:prstGeom>
          <a:solidFill>
            <a:srgbClr val="F6F5F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691640"/>
            <a:ext cx="16002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377440" y="1764792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codificación abierta inicial fue realizada por el equipo sin doble codificación independiente completa.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086600" y="1764792"/>
            <a:ext cx="44805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Mitigación: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recontó la codificación axial en su totalidad antes de esta entrega y se corrigió el conteo (47 → 50 códigos).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57200" y="2898648"/>
            <a:ext cx="11247120" cy="1078992"/>
          </a:xfrm>
          <a:prstGeom prst="roundRect">
            <a:avLst>
              <a:gd name="adj" fmla="val 6780"/>
            </a:avLst>
          </a:prstGeom>
          <a:solidFill>
            <a:srgbClr val="DCE9D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2898648"/>
            <a:ext cx="16002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377440" y="2971800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estudio se realizó en una sola clínica veterinaria ecuatoriana con un número acotado de participantes.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086600" y="2971800"/>
            <a:ext cx="44805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Mitigación: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hallazgos se restringen a ese contexto; se proponen réplicas en otras clínicas como trabajo futuro.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57200" y="4105656"/>
            <a:ext cx="11247120" cy="1078992"/>
          </a:xfrm>
          <a:prstGeom prst="roundRect">
            <a:avLst>
              <a:gd name="adj" fmla="val 6780"/>
            </a:avLst>
          </a:prstGeom>
          <a:solidFill>
            <a:srgbClr val="F6F5F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4105656"/>
            <a:ext cx="16002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constructo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2377440" y="4178808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"Explicabilidad" se operacionalizó solo como factores de peso + nivel de confianza, un subconjunto del marco de Chazette et al.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086600" y="4178808"/>
            <a:ext cx="44805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Mitigación: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documenta explícitamente qué dimensiones del marco no fueron cubiertas.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5312664"/>
            <a:ext cx="11247120" cy="1078992"/>
          </a:xfrm>
          <a:prstGeom prst="roundRect">
            <a:avLst>
              <a:gd name="adj" fmla="val 6780"/>
            </a:avLst>
          </a:prstGeom>
          <a:solidFill>
            <a:srgbClr val="DCE9DF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5312664"/>
            <a:ext cx="160020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conclusión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2377440" y="5385816"/>
            <a:ext cx="45720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cuestionario cuantitativo aún no alcanza el tamaño muestral objetivo por perfil.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5385816"/>
            <a:ext cx="44805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Mitigación: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hallazgos cuantitativos se presentan como preliminares hasta completar la recolección.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Mesías Quijije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SGCV-IA · Entrega 4 (2B) · 11 / 15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DCE9D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CONCLUSIONES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Conclusiones y trabajo futuro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691640"/>
            <a:ext cx="5486400" cy="4160520"/>
          </a:xfrm>
          <a:prstGeom prst="roundRect">
            <a:avLst>
              <a:gd name="adj" fmla="val 2637"/>
            </a:avLst>
          </a:prstGeom>
          <a:solidFill>
            <a:srgbClr val="1F4E3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9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Respuesta a la RQ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317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 es posible derivar, a partir de trabajo de campo real, requisitos de explicabilidad verificables (RNF-18): mostrar los factores de mayor peso y un nivel de confianza antes de que el veterinario decida.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931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9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Contribuciones consolidadas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4343400"/>
            <a:ext cx="4937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RNF de explicabilidad trazado al ERS · MVP con flujo Aceptar/Modificar/Rechazar · paquete de datos con DOI en Zenodo y registro en OSF.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63640" y="169164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F6F5F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53796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537960" y="2496312"/>
            <a:ext cx="128016" cy="128016"/>
          </a:xfrm>
          <a:prstGeom prst="ellipse">
            <a:avLst/>
          </a:prstGeom>
          <a:solidFill>
            <a:srgbClr val="C77D2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812280" y="2350008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Completar el cuestionario cuantitativo hasta n ≥ 60 por perfil dominante.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537960" y="3337560"/>
            <a:ext cx="128016" cy="128016"/>
          </a:xfrm>
          <a:prstGeom prst="ellipse">
            <a:avLst/>
          </a:prstGeom>
          <a:solidFill>
            <a:srgbClr val="C77D2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12280" y="3191256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Cerrar la implementación reproducible de los scripts de análisis (06_Experimento/scripts_analisis/).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37960" y="4178808"/>
            <a:ext cx="128016" cy="128016"/>
          </a:xfrm>
          <a:prstGeom prst="ellipse">
            <a:avLst/>
          </a:prstGeom>
          <a:solidFill>
            <a:srgbClr val="C77D2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812280" y="4032504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Finalizar y enviar el manuscrito a la revista o conferencia objetivo.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537960" y="5020056"/>
            <a:ext cx="128016" cy="128016"/>
          </a:xfrm>
          <a:prstGeom prst="ellipse">
            <a:avLst/>
          </a:prstGeom>
          <a:solidFill>
            <a:srgbClr val="C77D2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6812280" y="4873752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Replicar el estudio en otras clínicas veterinarias para poner a prueba la generalización externa.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Marcillo Ponce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SGCV-IA · Entrega 4 (2B) · 12 / 15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DCE9D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CONCLUSIONES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F4E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declarado de los artefactos</a:t>
            </a:r>
            <a:endParaRPr lang="en-US" sz="29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Transparencia sobre lo cerrado y lo pendiente al momento de esta defensa — sin resultados hipotéticos ni cifras no verificables.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2103120"/>
            <a:ext cx="5486400" cy="3840480"/>
          </a:xfrm>
          <a:prstGeom prst="roundRect">
            <a:avLst>
              <a:gd name="adj" fmla="val 2857"/>
            </a:avLst>
          </a:prstGeom>
          <a:solidFill>
            <a:srgbClr val="DCE9D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Completo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74320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ERS/SRS v2.0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316382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Evidencia de campo (16 entrevistas)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3584448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Modelado y trazabilidad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4005072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MVP funcional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42569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Registro OSF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8463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DOI Zenodo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5266944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Identificador Software Heritage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63640" y="2103120"/>
            <a:ext cx="5440680" cy="3840480"/>
          </a:xfrm>
          <a:prstGeom prst="roundRect">
            <a:avLst>
              <a:gd name="adj" fmla="val 2857"/>
            </a:avLst>
          </a:prstGeom>
          <a:solidFill>
            <a:srgbClr val="F6F5F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537960" y="2286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Pendiente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537960" y="27432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Scripts de análisis (esqueleto, no reproducible aún)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329184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Datos crudos depositados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537960" y="384048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Manuscrito final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438912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n ≥ 60 por perfil en el cuestionario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537960" y="493776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○  Actas de member checking en el repositorio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Marcillo Ponce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SGCV-IA · Entrega 4 (2B) · 13 / 15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F4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65760"/>
            <a:ext cx="2743200" cy="365760"/>
          </a:xfrm>
          <a:prstGeom prst="roundRect">
            <a:avLst>
              <a:gd name="adj" fmla="val 20000"/>
            </a:avLst>
          </a:prstGeom>
          <a:solidFill>
            <a:srgbClr val="DCE9D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1F4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DEMOSTRACIÓN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Demostración del prototipo (MVP)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255C46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2148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060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por rol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26060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337560" y="201168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255C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20440" y="2148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6060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del paciente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989320" y="26060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217920" y="201168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C77D2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00800" y="2148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6060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Sugerencia de IA + factores y confianza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869680" y="2606040"/>
            <a:ext cx="274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D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098280" y="2011680"/>
            <a:ext cx="2697480" cy="1554480"/>
          </a:xfrm>
          <a:prstGeom prst="roundRect">
            <a:avLst>
              <a:gd name="adj" fmla="val 5882"/>
            </a:avLst>
          </a:prstGeom>
          <a:solidFill>
            <a:srgbClr val="255C4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281160" y="21488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9281160" y="2606040"/>
            <a:ext cx="2331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Aceptar / Modificar / Rechazar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11247120" cy="1417320"/>
          </a:xfrm>
          <a:prstGeom prst="roundRect">
            <a:avLst>
              <a:gd name="adj" fmla="val 7742"/>
            </a:avLst>
          </a:prstGeom>
          <a:solidFill>
            <a:srgbClr val="255C4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77240" y="3931920"/>
            <a:ext cx="10607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6B9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Despliegue: 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 up en 05_MVP/ · Frontend React (single-file) + backend Node.js/Express/SQLite con persistencia real.
</a:t>
            </a:r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6B9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Credenciales:  </a:t>
            </a:r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cuentas de demostración documentadas en 05_MVP/README.md — nunca credenciales reales de la clínica cliente.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553212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D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demostrada de RF Must-have: login (RF-24), historial (RF-02/03), consulta (RF-04), facturación (RF-07/08), agenda (RF-11), sugerencias de IA (RF-17/18/19), auditoría (RF-23).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Vera Gómez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8074152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SGCV-IA · Entrega 4 (2B) · 14 / 15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F4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37160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255C46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731520" y="22860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2461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D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del tribunal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206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9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Repositorio: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github.com/ramaguas-ship-it/SGCV-IA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617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9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Zenodo (DOI):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10.5281/zenodo.22238486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5029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9C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OSF: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osf.io/wkg32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DCE9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SGCV-IA · Ingeniería de Requerimientos (ISR-401) · UTEQ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2026-09-07T03:09:22Z</dcterms:created>
  <dcterms:modified xsi:type="dcterms:W3CDTF">2026-09-07T03:09:22Z</dcterms:modified>
</cp:coreProperties>
</file>