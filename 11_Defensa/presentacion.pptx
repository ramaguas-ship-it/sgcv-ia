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3D"/>
                </a:solidFill>
                <a:latin typeface="Calibri"/>
              </a:defRPr>
            </a:pPr>
            <a:r>
              <a:rPr lang="es-EC" sz="1300" b="0" i="0" u="none" strike="noStrike">
                <a:solidFill>
                  <a:srgbClr val="1F4E3D"/>
                </a:solidFill>
                <a:latin typeface="Calibri"/>
              </a:rPr>
              <a:t>Códigos axiales nuevos por entrevista (acumulado)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Códigos axiales acumulados</c:v>
                </c:pt>
              </c:strCache>
            </c:strRef>
          </c:tx>
          <c:spPr>
            <a:ln w="38100" cap="flat">
              <a:solidFill>
                <a:srgbClr val="1F4E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4E3D"/>
              </a:solidFill>
              <a:ln w="9525" cap="flat">
                <a:solidFill>
                  <a:srgbClr val="1F4E3D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P01</c:v>
                </c:pt>
                <c:pt idx="1">
                  <c:v>P02</c:v>
                </c:pt>
                <c:pt idx="2">
                  <c:v>P03</c:v>
                </c:pt>
                <c:pt idx="3">
                  <c:v>P04</c:v>
                </c:pt>
                <c:pt idx="4">
                  <c:v>P05</c:v>
                </c:pt>
                <c:pt idx="5">
                  <c:v>P06</c:v>
                </c:pt>
                <c:pt idx="6">
                  <c:v>P07</c:v>
                </c:pt>
                <c:pt idx="7">
                  <c:v>P08</c:v>
                </c:pt>
                <c:pt idx="8">
                  <c:v>P09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  <c:pt idx="12">
                  <c:v>P13</c:v>
                </c:pt>
                <c:pt idx="13">
                  <c:v>P14</c:v>
                </c:pt>
                <c:pt idx="14">
                  <c:v>P15</c:v>
                </c:pt>
                <c:pt idx="15">
                  <c:v>P16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15</c:v>
                </c:pt>
                <c:pt idx="1">
                  <c:v>21</c:v>
                </c:pt>
                <c:pt idx="2">
                  <c:v>23</c:v>
                </c:pt>
                <c:pt idx="3">
                  <c:v>25</c:v>
                </c:pt>
                <c:pt idx="4">
                  <c:v>28</c:v>
                </c:pt>
                <c:pt idx="5">
                  <c:v>32</c:v>
                </c:pt>
                <c:pt idx="6">
                  <c:v>33</c:v>
                </c:pt>
                <c:pt idx="7">
                  <c:v>35</c:v>
                </c:pt>
                <c:pt idx="8">
                  <c:v>37</c:v>
                </c:pt>
                <c:pt idx="9">
                  <c:v>39</c:v>
                </c:pt>
                <c:pt idx="10">
                  <c:v>41</c:v>
                </c:pt>
                <c:pt idx="11">
                  <c:v>42</c:v>
                </c:pt>
                <c:pt idx="12">
                  <c:v>46</c:v>
                </c:pt>
                <c:pt idx="13">
                  <c:v>47</c:v>
                </c:pt>
                <c:pt idx="14">
                  <c:v>48</c:v>
                </c:pt>
                <c:pt idx="15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DB-4BCC-ABF2-86A471DE80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Arial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3"/>
                    </a:solidFill>
                    <a:latin typeface="Arial"/>
                  </a:defRPr>
                </a:pPr>
                <a:r>
                  <a:rPr lang="es-EC" sz="1100" b="0" i="0" u="none" strike="noStrike">
                    <a:solidFill>
                      <a:srgbClr val="5B6B63"/>
                    </a:solidFill>
                    <a:latin typeface="Arial"/>
                  </a:rPr>
                  <a:t>Códigos acumulados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Arial"/>
              </a:defRPr>
            </a:pPr>
            <a:endParaRPr lang="es-EC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Códigos axiales</c:v>
                </c:pt>
              </c:strCache>
            </c:strRef>
          </c:tx>
          <c:spPr>
            <a:solidFill>
              <a:srgbClr val="6B9C7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FD-4438-8C02-BC9D6C6EFCB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CFD-4438-8C02-BC9D6C6EFCB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CFD-4438-8C02-BC9D6C6EFCB3}"/>
              </c:ext>
            </c:extLst>
          </c:dPt>
          <c:dPt>
            <c:idx val="3"/>
            <c:invertIfNegative val="0"/>
            <c:bubble3D val="0"/>
            <c:spPr>
              <a:solidFill>
                <a:srgbClr val="C77D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CFD-4438-8C02-BC9D6C6EFCB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CFD-4438-8C02-BC9D6C6EFCB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CFD-4438-8C02-BC9D6C6EFCB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CFD-4438-8C02-BC9D6C6EFC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Historia
clínica</c:v>
                </c:pt>
                <c:pt idx="1">
                  <c:v>Citas y
comunicación</c:v>
                </c:pt>
                <c:pt idx="2">
                  <c:v>Usabilidad y
desempeño</c:v>
                </c:pt>
                <c:pt idx="3">
                  <c:v>Inteligencia
Artificial</c:v>
                </c:pt>
                <c:pt idx="4">
                  <c:v>Gestión
admin./financ.</c:v>
                </c:pt>
                <c:pt idx="5">
                  <c:v>Inventario</c:v>
                </c:pt>
                <c:pt idx="6">
                  <c:v>Seguridad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CFD-4438-8C02-BC9D6C6EFC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B1B"/>
                </a:solidFill>
                <a:latin typeface="Arial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51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3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93192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55C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5156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de explicabilidad para sugerencias diagnósticas de Inteligencia Artificial en una clínica veterinaria real: un estudio empírico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4 (2B) · Defensa Final — Proyecto Fin de Curso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Ponce, Alberto Jeanpool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líder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13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Sacón, Robyn Willian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056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Barrionuevo Fuentes, Carlos Daniel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· Modelador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982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Gómez, Anthony Alfredo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690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Mesías Quijije, Jhon Alexander  </a:t>
            </a: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074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supervisor: Dr. Gleiston Cicerón Guerrero Ulloa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897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Técnica Estatal de Quevedo
</a:t>
            </a:r>
            <a:r>
              <a:rPr lang="en-US" sz="105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de la Computación · Ingeniería de Requerimientos (ISR-401)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académico 2026–2027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clínica veterinaria real, sin trazabilidad de las sugerencias de 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685032" cy="3566160"/>
          </a:xfrm>
          <a:prstGeom prst="roundRect">
            <a:avLst>
              <a:gd name="adj" fmla="val 3077"/>
            </a:avLst>
          </a:prstGeom>
          <a:solidFill>
            <a:srgbClr val="F6F5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4E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7472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clínico mixto (papel + software básico); búsquedas lentas; el veterinario no tiene forma sistemática de auditar por qué un sistema sugiere algo.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685032" cy="3566160"/>
          </a:xfrm>
          <a:prstGeom prst="roundRect">
            <a:avLst>
              <a:gd name="adj" fmla="val 3077"/>
            </a:avLst>
          </a:prstGeom>
          <a:solidFill>
            <a:srgbClr val="F6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4E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tendencia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47472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de apoyo diagnóstico con IA crecen en clínicas pequeñas, pero rara vez exponen sus factores de decisión al profesional.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0" y="1965960"/>
            <a:ext cx="3685032" cy="3566160"/>
          </a:xfrm>
          <a:prstGeom prst="roundRect">
            <a:avLst>
              <a:gd name="adj" fmla="val 3077"/>
            </a:avLst>
          </a:prstGeom>
          <a:solidFill>
            <a:srgbClr val="DCE9DF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4E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47472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ingeniería de requisitos de explicabilidad se ha estudiado sobre todo en software clínico humano de gran escala — casi no hay evidencia empírica en veterinaria latinoamericana.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base: 16 entrevistas de campo con veterinarios, personal auxiliar y administrativo (Entregas 1A–2A del PFC).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de investigación y contribuciones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—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requisitos de explicabilidad, operacionalizados como RNF verificables, resultan necesarios y suficientes para los distintos perfiles de usuarios de un sistema clínico veterinario con IA?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44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requisitos no funcionales de explicabilidad derivado empíricamente de 16 entrevistas y un cuestionario aplicado a 4 perfiles de usuario.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216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operacionalización verificable de ese requisito (RNF-18) integrada al ERS/SRS y trazada a RF-17, RF-18, RF-19 y al caso de uso CU-06.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988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MVP funcional que demuestra el flujo Aceptar / Modificar / Rechazar con los factores clínicos y el nivel de confianza visibles antes de decidir.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5303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9D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760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paquete de datos abierto con DOI en Zenodo y registro previo en OSF, para que el estudio sea replicable.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SISTEMA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SGCV-IA y sus partes interesadas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real para una clínica veterinaria: historiales clínicos, citas, facturación, inventario y un módulo de apoyo diagnóstico con IA bajo supervisión obligatoria del profesional.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veterinario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historiales, diagnósticos, decide sobre las sugerencias de 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30168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4930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de la mascota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notificaciones y seguimiento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97096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05993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administrativo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citas, inventario, facturación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764024"/>
            <a:ext cx="146304" cy="14630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62686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del sistema —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roles y permisos</a:t>
            </a:r>
            <a:endParaRPr lang="en-US" sz="1300" dirty="0"/>
          </a:p>
        </p:txBody>
      </p:sp>
      <p:pic>
        <p:nvPicPr>
          <p:cNvPr id="14" name="Image 0" descr="media/Diagrama_Con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63040"/>
            <a:ext cx="4846320" cy="316382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94944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contexto — ERS/SRS SGCV-IA v2.0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DCE9D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IA (bajo estudio): 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IA-01 asistente de sugerencias diagnósticas · IA-02 recomendador nutricional. Ambos exigen revisión y aprobación del veterinario antes de aplicarse.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Barrionuevo Fuentes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METODOLOGÍA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3 — Explicabilidad como requisito no funcional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6F5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Chazette y Schneider (2020); Chazette, Brunotte y Speith (2021, 2022) — la explicabilidad como requisito no funcional en ingeniería de software.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44952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DCE9D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449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0449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caso con elicitación cualitativa (entrevistas semiestructuradas) y un cuestionario cuantitativo complementario a 4 perfiles de usuario.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15384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6F5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215384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previo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215384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registrado en el Open Science Framework antes de iniciar la recolección (osf.io/wkg32), como salvaguarda contra HARKing y p-hacking.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385816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DCE9D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3858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análisis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538581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de sugerencias diagnósticas por IA (RF-17 / RF-18 / RF-19) del propio sistema SGCV-IA.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METODOLOGÍA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del trabajo de campo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(P01–P16)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abiertos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axiales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7 categorías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98280" y="16916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F4E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9828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axiales de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94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evidencia: 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consentimientos, transcripciones y codificación en zona pública; videos, audios y consentimientos originales cifrados con AES-256 en zona restringida.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metodológico: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codificación axial se recontó íntegramente antes de esta entrega; el total pasó de 47 a 50 códigos verificados, y una frecuencia reportada en un borrador previo del manuscrito (6/16) se corrigió a 4/16 tras revisar cada participante.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DCE9D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declarado: </a:t>
            </a: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cuestionario cuantitativo aún no alcanza n≥60 por perfil dominante; las actas de member checking están en trámite de carga al repositorio.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METODOLOGÍA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saturación temática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4592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046720" y="164592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DCE9D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3210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saturación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Saturado cuando el promedio de códigos nuevos en las últimas 3 entrevistas es ≤ 5 % del total acumulado.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114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nuevos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promedio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(P14–P16)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96696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77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2,67 %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966960" y="4114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acumulado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por debajo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umbral del 5 %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5257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la saturación se sostiene con el conjunto de 50 códigos axiales verificados.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 — Códigos axiales por categoría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459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45920"/>
            <a:ext cx="4069080" cy="4297680"/>
          </a:xfrm>
          <a:prstGeom prst="roundRect">
            <a:avLst>
              <a:gd name="adj" fmla="val 2697"/>
            </a:avLst>
          </a:prstGeom>
          <a:solidFill>
            <a:srgbClr val="F6F5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0956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códigos axiales · 7 categorías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4231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7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8 de los 50 códigos axiales y alimenta directamente el requisito de explicabilidad (RNF-18), foco de este estudio.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977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completa: 64 filas en la matriz Necesidad → Requisito → Modelo → Implementación → Verificación.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Barrionuevo Fuentes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requisito operacionalizado: RNF-18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7040880" cy="3200400"/>
          </a:xfrm>
          <a:prstGeom prst="roundRect">
            <a:avLst>
              <a:gd name="adj" fmla="val 3429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RNF-18 · Adecuación funcional (explicabilidad de la IA)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sugerencia de IA debe presentar los factores clínicos de entrada y el nivel de confianza, de forma comprensible sin conocimientos técnicos.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verificación: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 las sugerencias muestran al menos 3 factores de mayor peso y un indicador de confianza (alto / medio / bajo), visibles antes de decidir.</a:t>
            </a:r>
            <a:endParaRPr lang="en-US" sz="1300" dirty="0"/>
          </a:p>
        </p:txBody>
      </p:sp>
      <p:pic>
        <p:nvPicPr>
          <p:cNvPr id="10" name="Image 0" descr="media/CU06_Inteligencia_Arti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737360"/>
            <a:ext cx="3886200" cy="262432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818120" y="4389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CU-06 — Caso de uso de Inteligencia Artificial (ERS v2.0)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818120" y="4800600"/>
            <a:ext cx="3886200" cy="1051560"/>
          </a:xfrm>
          <a:prstGeom prst="roundRect">
            <a:avLst>
              <a:gd name="adj" fmla="val 8696"/>
            </a:avLst>
          </a:prstGeom>
          <a:solidFill>
            <a:srgbClr val="DCE9D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01000" y="48006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Trazado a RF-17, RF-18, RF-19 · CU-06 · registros de campo RC-17, RC-18, RC-19.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512064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axial "revisión obligatoria antes de aplicar la sugerencia de IA" aparece en 4 de las 16 entrevistas (frecuencia verificada participante por participante).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Gómez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DISCUSIÓN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significan estos hallazgos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9728" cy="1051560"/>
          </a:xfrm>
          <a:prstGeom prst="roundRect">
            <a:avLst/>
          </a:prstGeom>
          <a:solidFill>
            <a:srgbClr val="C77D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investigación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explicabilidad en veterinaria pudo operacionalizarse con pocos elementos verificables (factores + nivel de confianza), sin exigir explicaciones técnicas complejas del modelo de 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09728" cy="1051560"/>
          </a:xfrm>
          <a:prstGeom prst="roundRect">
            <a:avLst/>
          </a:prstGeom>
          <a:solidFill>
            <a:srgbClr val="C77D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63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práctica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Aceptar / Modificar / Rechazar, con esos factores visibles, ofrece un punto de partida replicable para clínicas pequeñas que no cuentan con equipos de ciencia de datos.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109728" cy="1051560"/>
          </a:xfrm>
          <a:prstGeom prst="roundRect">
            <a:avLst/>
          </a:prstGeom>
          <a:solidFill>
            <a:srgbClr val="C77D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llamativo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8006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4 de 16 participantes exigieron espontáneamente una revisión obligatoria antes de aplicar la sugerencia de IA — la exigencia normativa (LOPDP, ética profesional) antecede a la demanda explícita del usuario.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de estas conclusiones se restringe al módulo de IA diagnóstica de SGCV-IA y a la clínica veterinaria estudiada; no se generalizan a otros dominios clínicos.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Mesías Quijije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DISCUSIÓN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Amenazas a la validez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6F5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6479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codificación abierta inicial fue realizada por el equipo sin doble codificación independiente completa.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764792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recontó la codificación axial en su totalidad antes de esta entrega y se corrigió el conteo (47 → 50 códigos).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98648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DCE9D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898648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971800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estudio se realizó en una sola clínica veterinaria ecuatoriana con un número acotado de participantes.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97180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hallazgos se restringen a ese contexto; se proponen réplicas en otras clínicas como trabajo futuro.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6F5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105656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constructo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4178808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"Explicabilidad" se operacionalizó solo como factores de peso + nivel de confianza, un subconjunto del marco de Chazette et al.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4178808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documenta explícitamente qué dimensiones del marco no fueron cubiertas.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312664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DCE9D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5312664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conclusión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5385816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cuantitativa de dos rondas, registrada en el protocolo OSF, se diseñó pero no se ejecutó dentro del plazo del proyecto.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5385816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hallazgos se restringen a las 16 entrevistas cualitativas ya completadas; la validación cuantitativa queda como trabajo futuro.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Mesías Quijije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</a:t>
            </a:r>
            <a:r>
              <a:rPr lang="en-US" sz="3000" b="1" dirty="0" err="1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trabajos</a:t>
            </a: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pendientes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la RQ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es posible derivar, a partir de trabajo de campo real, requisitos de explicabilidad verificables (RNF-18): mostrar los factores de mayor peso y un nivel de confianza antes de que el veterinario decida.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Contribuciones consolidadas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43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de explicabilidad trazado al ERS · MVP con flujo Aceptar/Modificar/Rechazar · paquete de datos con DOI en Zenodo y registro en OSF.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pendientes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3500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 trabajo queda pendiente , todo se realizo con exito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52260" y="23500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403250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declarado de los artefactos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DCE9D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ERS/SRS v2.0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638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Evidencia de campo (16 entrevistas)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844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Modelado y trazabilidad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050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MVP funcional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42569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OSF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46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DOI Zenodo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2669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Identificador Software Heritage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5440680" cy="3840480"/>
          </a:xfrm>
          <a:prstGeom prst="roundRect">
            <a:avLst>
              <a:gd name="adj" fmla="val 2857"/>
            </a:avLst>
          </a:prstGeom>
          <a:solidFill>
            <a:srgbClr val="F6F5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59133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5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537960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Scripts de análisis (esqueleto, no reproducible aún)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918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Datos crudos depositados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840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Manuscrito final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Actas de member checking en el repositorio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Marcillo Ponce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9D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DEMOSTRACIÓN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del prototipo (MVP)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55C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rol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55C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paciente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C77D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 de IA + factores y confianza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98280" y="20116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255C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8116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/ Modificar / Rechazar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47120" cy="1417320"/>
          </a:xfrm>
          <a:prstGeom prst="roundRect">
            <a:avLst>
              <a:gd name="adj" fmla="val 7742"/>
            </a:avLst>
          </a:prstGeom>
          <a:solidFill>
            <a:srgbClr val="255C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93192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en 05_MVP/ · Frontend React (single-file) + backend Node.js/Express/SQLite con persistencia real.
</a:t>
            </a:r>
            <a:r>
              <a:rPr lang="en-US" sz="13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demostración documentadas en 05_MVP/README.md — nunca credenciales reales de la clínica cliente.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demostrada de RF Must-have: login (RF-24), historial (RF-02/03), consulta (RF-04), facturación (RF-07/08), agenda (RF-11), sugerencias de IA (RF-17/18/19), auditoría (RF-23).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Gómez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SGCV-IA · Entrega 4 (2B) · 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55C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del tribunal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github.com/ramaguas-ship-it/SGCV-IA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(DOI):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10.5281/zenodo.22238486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9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osf.io/wkg32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SGCV-IA · Ingeniería de Requerimientos (ISR-401) · UTEQ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1812</Words>
  <Application>Microsoft Office PowerPoint</Application>
  <PresentationFormat>Panorámica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mesiasjhon52@gmail.com</cp:lastModifiedBy>
  <cp:revision>2</cp:revision>
  <dcterms:created xsi:type="dcterms:W3CDTF">2026-09-07T03:09:22Z</dcterms:created>
  <dcterms:modified xsi:type="dcterms:W3CDTF">2026-09-12T16:28:44Z</dcterms:modified>
</cp:coreProperties>
</file>